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 /><Relationship Id="rId20" Type="http://schemas.openxmlformats.org/officeDocument/2006/relationships/tableStyles" Target="tableStyles.xml" /><Relationship Id="rId2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43647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3354927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71822503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8683856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3184596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630956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86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811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07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1806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49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0130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7C184F-6B15-2C2B-1685-99C705941D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79172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62700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0017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D478D3-3B21-6817-CCC9-CB9B3836E05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74087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34844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786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57B88A-9EE6-B226-87EE-FAE994B421A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37994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85407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BAF583-884E-CFEF-8DE5-1203A4B4A7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2699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304096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577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A4A41D-E2A1-FC31-472C-40DA7E093D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D4B5DF-E6FB-4919-CFDC-7F786DAD042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78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849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8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18262F-F903-3EEA-F653-29E78658ED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5C52C9A-CB03-5833-6119-EBA298FF27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949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07328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8572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49A6FF-DC7E-27A8-916A-7EA30C17A7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2554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12657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094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E5CA1D-C782-DD6A-E3E4-FADF595E63E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67746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8756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4975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93C7AE-F512-5C8A-CC5D-6CE770C89D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89110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93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197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A44C6F-85E4-F237-CE9A-E5F564F6B7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602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6931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495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19823E-755F-288E-8034-47D20B4EC9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843225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1600737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9833655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993568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349276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3681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8502039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61716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084753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9403695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816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93994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981002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3212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24340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5676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7259172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7714235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9075036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208571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206123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80355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940388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6656828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884042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05974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7885931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248760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228583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2352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590373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4032089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7715861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801005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367260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2857077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93069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32707166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594536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8224051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8218528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191736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60468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29405797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9636391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022255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923442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7900419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2451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2447527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0858174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876684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90489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34258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5112190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93335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9864513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561229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/>
          <a:tile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4850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883696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2670229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2774086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0185536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9333195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40177" y="314324"/>
            <a:ext cx="9144000" cy="1867578"/>
          </a:xfrm>
        </p:spPr>
        <p:txBody>
          <a:bodyPr/>
          <a:lstStyle/>
          <a:p>
            <a:pPr>
              <a:defRPr/>
            </a:pPr>
            <a:r>
              <a:rPr lang="en-US" sz="96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Medicine Man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278420358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5347606" y="2265815"/>
            <a:ext cx="4546178" cy="929140"/>
          </a:xfrm>
        </p:spPr>
        <p:txBody>
          <a:bodyPr/>
          <a:lstStyle/>
          <a:p>
            <a:pPr marL="0" marR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Отбор: </a:t>
            </a:r>
            <a:r>
              <a:rPr lang="en-US" sz="2800" b="1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Shte Vidim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301581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721177" y="251505"/>
            <a:ext cx="5755821" cy="1381352"/>
          </a:xfrm>
        </p:spPr>
        <p:txBody>
          <a:bodyPr/>
          <a:lstStyle/>
          <a:p>
            <a:pPr>
              <a:defRPr/>
            </a:pPr>
            <a:r>
              <a:rPr lang="bg-BG" sz="48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Нашият отбор: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pic>
        <p:nvPicPr>
          <p:cNvPr id="173088202" name=""/>
          <p:cNvPicPr>
            <a:picLocks noChangeAspect="1"/>
          </p:cNvPicPr>
          <p:nvPr/>
        </p:nvPicPr>
        <p:blipFill rotWithShape="1">
          <a:blip r:embed="rId3"/>
          <a:srcRect l="0" t="0" r="0" b="30816"/>
          <a:stretch/>
        </p:blipFill>
        <p:spPr bwMode="auto">
          <a:xfrm rot="21116953" flipH="0" flipV="0">
            <a:off x="8130021" y="369730"/>
            <a:ext cx="2555601" cy="2406021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306347692" name=""/>
          <p:cNvPicPr>
            <a:picLocks noChangeAspect="1"/>
          </p:cNvPicPr>
          <p:nvPr/>
        </p:nvPicPr>
        <p:blipFill rotWithShape="1">
          <a:blip r:embed="rId4"/>
          <a:srcRect l="0" t="6545" r="0" b="6275"/>
          <a:stretch/>
        </p:blipFill>
        <p:spPr bwMode="auto">
          <a:xfrm rot="0" flipH="0" flipV="0">
            <a:off x="4359281" y="1632856"/>
            <a:ext cx="1736717" cy="1643086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899329112" name=""/>
          <p:cNvPicPr>
            <a:picLocks noChangeAspect="1"/>
          </p:cNvPicPr>
          <p:nvPr/>
        </p:nvPicPr>
        <p:blipFill rotWithShape="1">
          <a:blip r:embed="rId5"/>
          <a:srcRect l="0" t="19914" r="0" b="3737"/>
          <a:stretch/>
        </p:blipFill>
        <p:spPr bwMode="auto">
          <a:xfrm rot="21017907" flipH="0" flipV="0">
            <a:off x="2326506" y="2433699"/>
            <a:ext cx="1614063" cy="1643086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169777123" name=""/>
          <p:cNvPicPr>
            <a:picLocks noChangeAspect="1"/>
          </p:cNvPicPr>
          <p:nvPr/>
        </p:nvPicPr>
        <p:blipFill rotWithShape="1">
          <a:blip r:embed="rId6"/>
          <a:srcRect l="0" t="13657" r="0" b="10989"/>
          <a:stretch/>
        </p:blipFill>
        <p:spPr bwMode="auto">
          <a:xfrm rot="789906" flipH="0" flipV="0">
            <a:off x="261108" y="2184872"/>
            <a:ext cx="1635384" cy="1643086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050055083" name=""/>
          <p:cNvPicPr>
            <a:picLocks noChangeAspect="1"/>
          </p:cNvPicPr>
          <p:nvPr/>
        </p:nvPicPr>
        <p:blipFill rotWithShape="1">
          <a:blip r:embed="rId7"/>
          <a:srcRect l="0" t="9454" r="0" b="27220"/>
          <a:stretch/>
        </p:blipFill>
        <p:spPr bwMode="auto">
          <a:xfrm rot="502398" flipH="0" flipV="0">
            <a:off x="6438732" y="2902869"/>
            <a:ext cx="1593255" cy="1793639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049375473" name=""/>
          <p:cNvPicPr>
            <a:picLocks noChangeAspect="1"/>
          </p:cNvPicPr>
          <p:nvPr/>
        </p:nvPicPr>
        <p:blipFill rotWithShape="1">
          <a:blip r:embed="rId8"/>
          <a:srcRect l="0" t="16690" r="0" b="15172"/>
          <a:stretch/>
        </p:blipFill>
        <p:spPr bwMode="auto">
          <a:xfrm rot="492277" flipH="0" flipV="0">
            <a:off x="3993036" y="4433212"/>
            <a:ext cx="1812149" cy="1646332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sp>
        <p:nvSpPr>
          <p:cNvPr id="1392356509" name=""/>
          <p:cNvSpPr txBox="1"/>
          <p:nvPr/>
        </p:nvSpPr>
        <p:spPr bwMode="auto">
          <a:xfrm rot="21159830" flipH="0" flipV="0">
            <a:off x="8342523" y="2832116"/>
            <a:ext cx="3738535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22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ментор</a:t>
            </a:r>
            <a:endParaRPr lang="bg-BG" sz="2200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 sz="20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Никола Кръстанов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71853397" name=""/>
          <p:cNvSpPr txBox="1"/>
          <p:nvPr/>
        </p:nvSpPr>
        <p:spPr bwMode="auto">
          <a:xfrm rot="0" flipH="0" flipV="0">
            <a:off x="6168656" y="1512093"/>
            <a:ext cx="198615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</a:rPr>
              <a:t>Ивелина</a:t>
            </a:r>
            <a:endParaRPr lang="bg-BG">
              <a:solidFill>
                <a:schemeClr val="bg1"/>
              </a:solidFill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</a:rPr>
              <a:t>Кръстанова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60169845" name=""/>
          <p:cNvSpPr txBox="1"/>
          <p:nvPr/>
        </p:nvSpPr>
        <p:spPr bwMode="auto">
          <a:xfrm rot="551985" flipH="0" flipV="0">
            <a:off x="6161514" y="4857749"/>
            <a:ext cx="320890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Виктор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Ванчов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243700412" name=""/>
          <p:cNvSpPr txBox="1"/>
          <p:nvPr/>
        </p:nvSpPr>
        <p:spPr bwMode="auto">
          <a:xfrm rot="20501817" flipH="0" flipV="0">
            <a:off x="2191820" y="4040920"/>
            <a:ext cx="2580390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Алексей Стойновски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167311582" name=""/>
          <p:cNvSpPr txBox="1"/>
          <p:nvPr/>
        </p:nvSpPr>
        <p:spPr bwMode="auto">
          <a:xfrm rot="914660" flipH="0" flipV="0">
            <a:off x="1854" y="4017974"/>
            <a:ext cx="2586150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Илиян Сахатчиев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06138144" name=""/>
          <p:cNvSpPr txBox="1"/>
          <p:nvPr/>
        </p:nvSpPr>
        <p:spPr bwMode="auto">
          <a:xfrm rot="0" flipH="0" flipV="0">
            <a:off x="3668343" y="6143624"/>
            <a:ext cx="4365607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Александър Симеонов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07601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721176" y="251504"/>
            <a:ext cx="6886608" cy="1381351"/>
          </a:xfrm>
        </p:spPr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cs typeface="Ubuntu Sans"/>
              </a:rPr>
              <a:t>Идеята – от къде и защо?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265942445" name=""/>
          <p:cNvSpPr txBox="1"/>
          <p:nvPr/>
        </p:nvSpPr>
        <p:spPr bwMode="auto">
          <a:xfrm rot="0" flipH="0" flipV="0">
            <a:off x="559283" y="1690004"/>
            <a:ext cx="7418523" cy="3353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2800">
                <a:solidFill>
                  <a:schemeClr val="bg1"/>
                </a:solidFill>
              </a:rPr>
              <a:t>Проблемите на хората с деменция:</a:t>
            </a:r>
            <a:endParaRPr sz="2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•"/>
              <a:defRPr/>
            </a:pPr>
            <a:r>
              <a:rPr lang="bg-BG" sz="2800">
                <a:solidFill>
                  <a:schemeClr val="bg1"/>
                </a:solidFill>
              </a:rPr>
              <a:t>забравят</a:t>
            </a:r>
            <a:r>
              <a:rPr lang="en-US" sz="2800">
                <a:solidFill>
                  <a:schemeClr val="bg1"/>
                </a:solidFill>
              </a:rPr>
              <a:t> </a:t>
            </a:r>
            <a:r>
              <a:rPr lang="bg-BG" sz="28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да си вземат лекарствата</a:t>
            </a:r>
            <a:endParaRPr sz="2800">
              <a:solidFill>
                <a:schemeClr val="bg1"/>
              </a:solidFill>
            </a:endParaRPr>
          </a:p>
          <a:p>
            <a:pPr marL="683929" lvl="1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с</a:t>
            </a:r>
            <a:r>
              <a:rPr lang="bg-BG" sz="2800">
                <a:solidFill>
                  <a:schemeClr val="bg1"/>
                </a:solidFill>
              </a:rPr>
              <a:t>ъс звук се целим да им помогнем да си вземат лекарствата</a:t>
            </a:r>
            <a:endParaRPr sz="2800">
              <a:solidFill>
                <a:schemeClr val="bg1"/>
              </a:solidFill>
            </a:endParaRPr>
          </a:p>
          <a:p>
            <a:pPr marL="283879" lvl="0" indent="-283879">
              <a:buFont typeface="Arial"/>
              <a:buChar char="•"/>
              <a:defRPr/>
            </a:pPr>
            <a:r>
              <a:rPr lang="bg-BG" sz="2800">
                <a:solidFill>
                  <a:schemeClr val="bg1"/>
                </a:solidFill>
              </a:rPr>
              <a:t>вземат грешните лекарства</a:t>
            </a:r>
            <a:endParaRPr lang="bg-BG" sz="2800">
              <a:solidFill>
                <a:schemeClr val="bg1"/>
              </a:solidFill>
            </a:endParaRPr>
          </a:p>
          <a:p>
            <a:pPr marL="794073" lvl="1" indent="-394023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с лампички се показва правилното лекарство в съответния раздел</a:t>
            </a:r>
            <a:endParaRPr lang="bg-BG">
              <a:solidFill>
                <a:schemeClr val="bg1"/>
              </a:solidFill>
            </a:endParaRPr>
          </a:p>
          <a:p>
            <a:pPr lvl="0">
              <a:defRPr/>
            </a:pPr>
            <a:endParaRPr lang="bg-BG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0889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Актуализация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89156895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825624"/>
            <a:ext cx="9392625" cy="4351338"/>
          </a:xfrm>
        </p:spPr>
        <p:txBody>
          <a:bodyPr/>
          <a:lstStyle/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Успяхме да направим прототип на кутията, които има </a:t>
            </a: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нагласящи се периоди на взимане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и показва кое лекарство трябва да се вземе.</a:t>
            </a: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 sz="2800" b="0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Направихме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и сайт, който да се свърже с кутията и да нагласи</a:t>
            </a: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 всички специфики.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>
              <a:buFont typeface="Arial"/>
              <a:buNone/>
              <a:defRPr/>
            </a:pP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1158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Технологии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pic>
        <p:nvPicPr>
          <p:cNvPr id="91722926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97730" y="1959000"/>
            <a:ext cx="2038349" cy="2038349"/>
          </a:xfrm>
          <a:prstGeom prst="rect">
            <a:avLst/>
          </a:prstGeom>
        </p:spPr>
      </p:pic>
      <p:pic>
        <p:nvPicPr>
          <p:cNvPr id="1596485865" name=""/>
          <p:cNvPicPr>
            <a:picLocks noChangeAspect="1"/>
          </p:cNvPicPr>
          <p:nvPr/>
        </p:nvPicPr>
        <p:blipFill rotWithShape="1">
          <a:blip r:embed="rId4"/>
          <a:srcRect l="37680" t="21864" r="36802" b="22186"/>
          <a:stretch/>
        </p:blipFill>
        <p:spPr bwMode="auto">
          <a:xfrm flipH="0" flipV="0">
            <a:off x="3311156" y="1595437"/>
            <a:ext cx="1835040" cy="2574975"/>
          </a:xfrm>
          <a:prstGeom prst="rect">
            <a:avLst/>
          </a:prstGeom>
        </p:spPr>
      </p:pic>
      <p:pic>
        <p:nvPicPr>
          <p:cNvPr id="150213187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952999" y="1959000"/>
            <a:ext cx="2362967" cy="2362967"/>
          </a:xfrm>
          <a:prstGeom prst="rect">
            <a:avLst/>
          </a:prstGeom>
        </p:spPr>
      </p:pic>
      <p:pic>
        <p:nvPicPr>
          <p:cNvPr id="1879026733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6182108" y="1729594"/>
            <a:ext cx="4075376" cy="23066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157479" name="Title 1"/>
          <p:cNvSpPr>
            <a:spLocks noGrp="1"/>
          </p:cNvSpPr>
          <p:nvPr>
            <p:ph type="title"/>
          </p:nvPr>
        </p:nvSpPr>
        <p:spPr bwMode="auto">
          <a:xfrm>
            <a:off x="528637" y="365124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Блокова схема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pic>
        <p:nvPicPr>
          <p:cNvPr id="169819102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37963" y="1476375"/>
            <a:ext cx="8316073" cy="4818809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1073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Принципна електрическа схема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pic>
        <p:nvPicPr>
          <p:cNvPr id="127774986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91258" y="1690687"/>
            <a:ext cx="8209483" cy="4762499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8172442" name=""/>
          <p:cNvSpPr txBox="1"/>
          <p:nvPr/>
        </p:nvSpPr>
        <p:spPr bwMode="auto">
          <a:xfrm rot="0" flipH="0" flipV="0">
            <a:off x="2239349" y="2074905"/>
            <a:ext cx="7420694" cy="118908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7200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Демонстрация</a:t>
            </a:r>
            <a:endParaRPr sz="7200"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9158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Анализ на живота на батерията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713705419" name="Content Placeholder 2"/>
          <p:cNvSpPr>
            <a:spLocks noGrp="1"/>
          </p:cNvSpPr>
          <p:nvPr>
            <p:ph idx="1"/>
          </p:nvPr>
        </p:nvSpPr>
        <p:spPr bwMode="auto">
          <a:xfrm>
            <a:off x="445293" y="1575593"/>
            <a:ext cx="10515600" cy="4351338"/>
          </a:xfrm>
        </p:spPr>
        <p:txBody>
          <a:bodyPr/>
          <a:lstStyle/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Капацитет: </a:t>
            </a:r>
            <a:r>
              <a:rPr lang="en-US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600 mAh</a:t>
            </a:r>
            <a:endParaRPr lang="en-US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Изчисления – спрямо целодневна работа на проекта</a:t>
            </a: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>
              <a:defRPr/>
            </a:pPr>
            <a:r>
              <a:rPr lang="bg-B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Консумация на ток:</a:t>
            </a: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Arduino Uno R4: 140 mA </a:t>
            </a:r>
            <a:endParaRPr sz="2800" b="0" i="0" u="none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2xLEDs и зумери(Средно работят по 1 час на ден): 80 mA</a:t>
            </a:r>
            <a:endParaRPr sz="2800" b="0" i="0" u="none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IR Sensor: 25 mA </a:t>
            </a:r>
            <a:endParaRPr sz="2800" b="0" i="0" u="none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457200" lvl="1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I        =140+ (80 * 1/24)+25=168.33 mA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640567046" name=""/>
          <p:cNvSpPr txBox="1"/>
          <p:nvPr/>
        </p:nvSpPr>
        <p:spPr bwMode="auto">
          <a:xfrm rot="0" flipH="0" flipV="0">
            <a:off x="1120406" y="4574973"/>
            <a:ext cx="1988703" cy="366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800" b="0" i="0" u="none" strike="noStrike" cap="none" spc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total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32888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Процес на разработка: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98168471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19099" y="1825624"/>
            <a:ext cx="2734649" cy="4351338"/>
          </a:xfrm>
        </p:spPr>
        <p:txBody>
          <a:bodyPr/>
          <a:lstStyle/>
          <a:p>
            <a:pPr marL="0" indent="0" algn="ctr">
              <a:buFont typeface="Arial"/>
              <a:buNone/>
              <a:defRPr/>
            </a:pPr>
            <a:r>
              <a:rPr lang="bg-BG" sz="2600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Сряда</a:t>
            </a:r>
            <a:endParaRPr sz="2600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Brainstorming </a:t>
            </a: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за идея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3</a:t>
            </a:r>
            <a:r>
              <a:rPr lang="en-US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D </a:t>
            </a: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модел и принтиране </a:t>
            </a:r>
            <a:endParaRPr sz="26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 sz="26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Създаване на няколко скици на сайта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1571454032" name="Content Placeholder 2"/>
          <p:cNvSpPr>
            <a:spLocks noGrp="1"/>
          </p:cNvSpPr>
          <p:nvPr/>
        </p:nvSpPr>
        <p:spPr bwMode="auto">
          <a:xfrm flipH="0" flipV="0">
            <a:off x="3361350" y="1825624"/>
            <a:ext cx="2734648" cy="4351338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bg-BG" sz="2600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Четвъртък</a:t>
            </a:r>
            <a:endParaRPr sz="2600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Създаване на сайта и правене на основния код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Рисуване на дизайнове и лого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706751710" name="Content Placeholder 2"/>
          <p:cNvSpPr>
            <a:spLocks noGrp="1"/>
          </p:cNvSpPr>
          <p:nvPr/>
        </p:nvSpPr>
        <p:spPr bwMode="auto">
          <a:xfrm flipH="0" flipV="0">
            <a:off x="6534149" y="1825624"/>
            <a:ext cx="2734648" cy="4351338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 lang="bg-BG" u="sng">
                <a:solidFill>
                  <a:schemeClr val="bg1"/>
                </a:solidFill>
                <a:latin typeface="Ubuntu Sans"/>
                <a:cs typeface="Ubuntu Sans"/>
              </a:rPr>
              <a:t>Петък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Довършване на проекта</a:t>
            </a:r>
            <a:endParaRPr lang="bg-BG">
              <a:solidFill>
                <a:schemeClr val="bg1"/>
              </a:solidFill>
              <a:latin typeface="Ubuntu Sans"/>
              <a:cs typeface="Ubuntu Sans"/>
            </a:endParaRPr>
          </a:p>
          <a:p>
            <a:pPr marL="0" indent="0" algn="ctr">
              <a:buFont typeface="Arial"/>
              <a:buNone/>
              <a:defRPr/>
            </a:pPr>
            <a:r>
              <a:rPr lang="bg-BG">
                <a:solidFill>
                  <a:schemeClr val="bg1"/>
                </a:solidFill>
                <a:latin typeface="Ubuntu Sans"/>
                <a:cs typeface="Ubuntu Sans"/>
              </a:rPr>
              <a:t>Презентация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06531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Medicine Man </a:t>
            </a: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 бъдещето:</a:t>
            </a:r>
            <a:endParaRPr b="1">
              <a:solidFill>
                <a:schemeClr val="bg1"/>
              </a:solidFill>
              <a:latin typeface="Ubuntu Sans"/>
              <a:cs typeface="Ubuntu Sans"/>
            </a:endParaRPr>
          </a:p>
        </p:txBody>
      </p:sp>
      <p:sp>
        <p:nvSpPr>
          <p:cNvPr id="2069464295" name=""/>
          <p:cNvSpPr txBox="1"/>
          <p:nvPr/>
        </p:nvSpPr>
        <p:spPr bwMode="auto">
          <a:xfrm rot="0" flipH="0" flipV="0">
            <a:off x="905849" y="1895474"/>
            <a:ext cx="104393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709497198" name=""/>
          <p:cNvSpPr txBox="1"/>
          <p:nvPr/>
        </p:nvSpPr>
        <p:spPr bwMode="auto">
          <a:xfrm rot="0" flipH="0" flipV="0">
            <a:off x="905848" y="1615259"/>
            <a:ext cx="7454518" cy="44809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да избереш модел на кутията (и колко раздела има в нея)</a:t>
            </a:r>
            <a:endParaRPr sz="2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при 5 минути без изключване на алармата се звъни на извънреден контакт</a:t>
            </a:r>
            <a:endParaRPr sz="2800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да може да се избира всякаква песен за алармата </a:t>
            </a:r>
            <a:endParaRPr lang="bg-BG" sz="2800">
              <a:solidFill>
                <a:schemeClr val="bg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</a:rPr>
              <a:t>сензор за тежест, който разбира дали са взети лекарствата</a:t>
            </a:r>
            <a:endParaRPr lang="bg-BG">
              <a:solidFill>
                <a:schemeClr val="bg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endParaRPr>
              <a:solidFill>
                <a:schemeClr val="bg1"/>
              </a:solidFill>
            </a:endParaRPr>
          </a:p>
          <a:p>
            <a:pPr>
              <a:defRPr/>
            </a:pP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43297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Нашето преживяване</a:t>
            </a:r>
            <a:endParaRPr/>
          </a:p>
        </p:txBody>
      </p:sp>
      <p:sp>
        <p:nvSpPr>
          <p:cNvPr id="417137689" name=""/>
          <p:cNvSpPr txBox="1"/>
          <p:nvPr/>
        </p:nvSpPr>
        <p:spPr bwMode="auto">
          <a:xfrm rot="0" flipH="0" flipV="0">
            <a:off x="477222" y="1614485"/>
            <a:ext cx="9157231" cy="3353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За нас беше едно много </a:t>
            </a:r>
            <a:r>
              <a:rPr lang="en-US" sz="2800" b="0" i="1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BIZZARE</a:t>
            </a:r>
            <a:r>
              <a:rPr lang="en-US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</a:t>
            </a: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преживяване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Истински </a:t>
            </a:r>
            <a:r>
              <a:rPr lang="en-US" sz="2800" b="0" i="1" u="sng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ADVENTURE</a:t>
            </a:r>
            <a:r>
              <a:rPr lang="en-US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</a:t>
            </a: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в сфери, в които никога не сме работили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Половината се разболяхме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Менторът ни идваше с части само след 14 часа </a:t>
            </a:r>
            <a:endParaRPr sz="2800" b="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 b="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Много се забавлявахме и смятаме да участваме всяка година до края на обучението ни в ТУЕС</a:t>
            </a:r>
            <a:endParaRPr lang="bg-BG" b="1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8" indent="-283878">
              <a:buFont typeface="Arial"/>
              <a:buChar char="–"/>
              <a:defRPr/>
            </a:pPr>
            <a:endParaRPr lang="bg-BG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82002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 b="1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Какво научихме</a:t>
            </a:r>
            <a:endParaRPr b="1">
              <a:solidFill>
                <a:schemeClr val="bg1"/>
              </a:solidFill>
            </a:endParaRPr>
          </a:p>
        </p:txBody>
      </p:sp>
      <p:sp>
        <p:nvSpPr>
          <p:cNvPr id="552880449" name=""/>
          <p:cNvSpPr txBox="1"/>
          <p:nvPr/>
        </p:nvSpPr>
        <p:spPr bwMode="auto">
          <a:xfrm rot="0" flipH="0" flipV="0">
            <a:off x="838199" y="1630319"/>
            <a:ext cx="9513042" cy="1798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работа с </a:t>
            </a:r>
            <a:r>
              <a:rPr lang="en-US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Arduino</a:t>
            </a:r>
            <a:endParaRPr sz="28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en-US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HTML и</a:t>
            </a: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 създаване на сайт</a:t>
            </a:r>
            <a:endParaRPr sz="28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как да използваме изкуствен интелект ефективно</a:t>
            </a:r>
            <a:endParaRPr sz="2800">
              <a:solidFill>
                <a:schemeClr val="bg1"/>
              </a:solidFill>
              <a:latin typeface="Ubuntu Sans"/>
              <a:ea typeface="Ubuntu Sans"/>
              <a:cs typeface="Ubuntu Sans"/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lang="bg-BG" sz="2800">
                <a:solidFill>
                  <a:schemeClr val="bg1"/>
                </a:solidFill>
                <a:latin typeface="Ubuntu Sans"/>
                <a:ea typeface="Ubuntu Sans"/>
                <a:cs typeface="Ubuntu Sans"/>
              </a:rPr>
              <a:t>работа в екип</a:t>
            </a:r>
            <a:endParaRPr>
              <a:solidFill>
                <a:schemeClr val="bg1"/>
              </a:solidFill>
              <a:latin typeface="Ubuntu Sans"/>
              <a:cs typeface="Ubuntu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2016768" name=""/>
          <p:cNvSpPr txBox="1"/>
          <p:nvPr/>
        </p:nvSpPr>
        <p:spPr bwMode="auto">
          <a:xfrm rot="0" flipH="0" flipV="0">
            <a:off x="810599" y="1238249"/>
            <a:ext cx="9841679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bg-BG" sz="4800">
                <a:solidFill>
                  <a:schemeClr val="bg1"/>
                </a:solidFill>
              </a:rPr>
              <a:t>Благодарим Ви за вниманието!</a:t>
            </a:r>
            <a:endParaRPr sz="4800">
              <a:solidFill>
                <a:schemeClr val="bg1"/>
              </a:solidFill>
            </a:endParaRPr>
          </a:p>
        </p:txBody>
      </p:sp>
      <p:pic>
        <p:nvPicPr>
          <p:cNvPr id="191285781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990156" y="2304293"/>
            <a:ext cx="3482564" cy="283385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2026-03-27T16:18:48Z</dcterms:modified>
</cp:coreProperties>
</file>