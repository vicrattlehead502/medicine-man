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6.xml" ContentType="application/vnd.openxmlformats-officedocument.presentationml.slideLayout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8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 /><Relationship Id="rId20" Type="http://schemas.openxmlformats.org/officeDocument/2006/relationships/tableStyles" Target="tableStyles.xml" /><Relationship Id="rId21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241245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16764062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893571253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466976141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5090866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2959854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60149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04088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31091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8390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122507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4966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7C184F-6B15-2C2B-1685-99C705941D9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607134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070585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7636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BAF583-884E-CFEF-8DE5-1203A4B4A7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90475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70965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6569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D478D3-3B21-6817-CCC9-CB9B3836E05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3147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047627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6415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57B88A-9EE6-B226-87EE-FAE994B421A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0582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69782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53270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3E5CA1D-C782-DD6A-E3E4-FADF595E63E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D4B5DF-E6FB-4919-CFDC-7F786DAD042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42699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304096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45778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6A4A41D-E2A1-FC31-472C-40DA7E093D9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71652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052291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16712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18262F-F903-3EEA-F653-29E78658ED5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5C52C9A-CB03-5833-6119-EBA298FF276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52643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87466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13523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49A6FF-DC7E-27A8-916A-7EA30C17A71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11442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598193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8528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793C7AE-F512-5C8A-CC5D-6CE770C89D4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6706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60485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23003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A44C6F-85E4-F237-CE9A-E5F564F6B71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333372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176888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7057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719823E-755F-288E-8034-47D20B4EC9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352951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07386235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214128004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8129335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1924668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615249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1578662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3285767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7673517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779025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1851456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428345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6470802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7566448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8480380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77401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4393776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850156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925186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2049274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8048314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8520788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4487945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5318400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932649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457863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3039762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23803357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0910367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79694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70322980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5365749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1940740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091924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07721621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1000809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960951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06785458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0705266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7690922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036614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7743279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115619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8030227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91442936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98497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6126539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4642451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94876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1536223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8397549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3612654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8999604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193096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5388181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4542149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1028991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7346390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13"/>
          <a:tile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0640220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8060860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66114418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9093046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5360492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jp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9897345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340177" y="314324"/>
            <a:ext cx="9144000" cy="1867578"/>
          </a:xfrm>
        </p:spPr>
        <p:txBody>
          <a:bodyPr/>
          <a:lstStyle/>
          <a:p>
            <a:pPr>
              <a:defRPr/>
            </a:pPr>
            <a:r>
              <a:rPr lang="en-US" sz="9600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Medicine Man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715673669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5347606" y="2265815"/>
            <a:ext cx="4546178" cy="929140"/>
          </a:xfrm>
        </p:spPr>
        <p:txBody>
          <a:bodyPr/>
          <a:lstStyle/>
          <a:p>
            <a:pPr marL="0" marR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Отбор: </a:t>
            </a:r>
            <a:r>
              <a:rPr lang="en-US" sz="2800" b="1" i="0" u="none" strike="noStrike" cap="none" spc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Shte Vidim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5885661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721177" y="251505"/>
            <a:ext cx="5755821" cy="1381352"/>
          </a:xfrm>
        </p:spPr>
        <p:txBody>
          <a:bodyPr/>
          <a:lstStyle/>
          <a:p>
            <a:pPr>
              <a:defRPr/>
            </a:pPr>
            <a:r>
              <a:rPr lang="bg-BG" sz="4800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Нашият отбор: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pic>
        <p:nvPicPr>
          <p:cNvPr id="173088202" name=""/>
          <p:cNvPicPr>
            <a:picLocks noChangeAspect="1"/>
          </p:cNvPicPr>
          <p:nvPr/>
        </p:nvPicPr>
        <p:blipFill rotWithShape="1">
          <a:blip r:embed="rId3"/>
          <a:srcRect l="0" t="0" r="0" b="30816"/>
          <a:stretch/>
        </p:blipFill>
        <p:spPr bwMode="auto">
          <a:xfrm rot="21116953" flipH="0" flipV="0">
            <a:off x="8130021" y="369730"/>
            <a:ext cx="2555601" cy="2406021"/>
          </a:xfrm>
          <a:prstGeom prst="rect">
            <a:avLst/>
          </a:prstGeom>
          <a:ln w="12700">
            <a:solidFill>
              <a:schemeClr val="tx1"/>
            </a:solidFill>
            <a:prstDash val="solid"/>
          </a:ln>
        </p:spPr>
      </p:pic>
      <p:pic>
        <p:nvPicPr>
          <p:cNvPr id="1306347692" name=""/>
          <p:cNvPicPr>
            <a:picLocks noChangeAspect="1"/>
          </p:cNvPicPr>
          <p:nvPr/>
        </p:nvPicPr>
        <p:blipFill rotWithShape="1">
          <a:blip r:embed="rId4"/>
          <a:srcRect l="0" t="6545" r="0" b="6275"/>
          <a:stretch/>
        </p:blipFill>
        <p:spPr bwMode="auto">
          <a:xfrm rot="0" flipH="0" flipV="0">
            <a:off x="4359281" y="1632856"/>
            <a:ext cx="1736717" cy="1643086"/>
          </a:xfrm>
          <a:prstGeom prst="rect">
            <a:avLst/>
          </a:prstGeom>
          <a:ln w="12700">
            <a:solidFill>
              <a:schemeClr val="tx1"/>
            </a:solidFill>
            <a:prstDash val="solid"/>
          </a:ln>
        </p:spPr>
      </p:pic>
      <p:pic>
        <p:nvPicPr>
          <p:cNvPr id="1899329112" name=""/>
          <p:cNvPicPr>
            <a:picLocks noChangeAspect="1"/>
          </p:cNvPicPr>
          <p:nvPr/>
        </p:nvPicPr>
        <p:blipFill rotWithShape="1">
          <a:blip r:embed="rId5"/>
          <a:srcRect l="0" t="19914" r="0" b="3737"/>
          <a:stretch/>
        </p:blipFill>
        <p:spPr bwMode="auto">
          <a:xfrm rot="21017907" flipH="0" flipV="0">
            <a:off x="2326506" y="2433699"/>
            <a:ext cx="1614063" cy="1643086"/>
          </a:xfrm>
          <a:prstGeom prst="rect">
            <a:avLst/>
          </a:prstGeom>
          <a:ln w="12700">
            <a:solidFill>
              <a:schemeClr val="tx1"/>
            </a:solidFill>
            <a:prstDash val="solid"/>
          </a:ln>
        </p:spPr>
      </p:pic>
      <p:pic>
        <p:nvPicPr>
          <p:cNvPr id="1169777123" name=""/>
          <p:cNvPicPr>
            <a:picLocks noChangeAspect="1"/>
          </p:cNvPicPr>
          <p:nvPr/>
        </p:nvPicPr>
        <p:blipFill rotWithShape="1">
          <a:blip r:embed="rId6"/>
          <a:srcRect l="0" t="13657" r="0" b="10989"/>
          <a:stretch/>
        </p:blipFill>
        <p:spPr bwMode="auto">
          <a:xfrm rot="789906" flipH="0" flipV="0">
            <a:off x="261108" y="2184872"/>
            <a:ext cx="1635384" cy="1643086"/>
          </a:xfrm>
          <a:prstGeom prst="rect">
            <a:avLst/>
          </a:prstGeom>
          <a:ln w="12700">
            <a:solidFill>
              <a:schemeClr val="tx1"/>
            </a:solidFill>
            <a:prstDash val="solid"/>
          </a:ln>
        </p:spPr>
      </p:pic>
      <p:pic>
        <p:nvPicPr>
          <p:cNvPr id="1050055083" name=""/>
          <p:cNvPicPr>
            <a:picLocks noChangeAspect="1"/>
          </p:cNvPicPr>
          <p:nvPr/>
        </p:nvPicPr>
        <p:blipFill rotWithShape="1">
          <a:blip r:embed="rId7"/>
          <a:srcRect l="0" t="9454" r="0" b="27220"/>
          <a:stretch/>
        </p:blipFill>
        <p:spPr bwMode="auto">
          <a:xfrm rot="502398" flipH="0" flipV="0">
            <a:off x="6438732" y="2902869"/>
            <a:ext cx="1593255" cy="1793639"/>
          </a:xfrm>
          <a:prstGeom prst="rect">
            <a:avLst/>
          </a:prstGeom>
          <a:ln w="12700">
            <a:solidFill>
              <a:schemeClr val="tx1"/>
            </a:solidFill>
            <a:prstDash val="solid"/>
          </a:ln>
        </p:spPr>
      </p:pic>
      <p:pic>
        <p:nvPicPr>
          <p:cNvPr id="1049375473" name=""/>
          <p:cNvPicPr>
            <a:picLocks noChangeAspect="1"/>
          </p:cNvPicPr>
          <p:nvPr/>
        </p:nvPicPr>
        <p:blipFill rotWithShape="1">
          <a:blip r:embed="rId8"/>
          <a:srcRect l="0" t="16690" r="0" b="15172"/>
          <a:stretch/>
        </p:blipFill>
        <p:spPr bwMode="auto">
          <a:xfrm rot="492277" flipH="0" flipV="0">
            <a:off x="3993036" y="4433212"/>
            <a:ext cx="1812149" cy="1646332"/>
          </a:xfrm>
          <a:prstGeom prst="rect">
            <a:avLst/>
          </a:prstGeom>
          <a:ln w="12700">
            <a:solidFill>
              <a:schemeClr val="tx1"/>
            </a:solidFill>
            <a:prstDash val="solid"/>
          </a:ln>
        </p:spPr>
      </p:pic>
      <p:sp>
        <p:nvSpPr>
          <p:cNvPr id="1392356509" name=""/>
          <p:cNvSpPr txBox="1"/>
          <p:nvPr/>
        </p:nvSpPr>
        <p:spPr bwMode="auto">
          <a:xfrm rot="21159830" flipH="0" flipV="0">
            <a:off x="8342523" y="2832116"/>
            <a:ext cx="3738535" cy="7318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 sz="2200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ментор</a:t>
            </a:r>
            <a:endParaRPr lang="bg-BG" sz="2200" b="1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>
              <a:defRPr/>
            </a:pPr>
            <a:r>
              <a:rPr lang="bg-BG" sz="20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Никола Кръстанов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71853397" name=""/>
          <p:cNvSpPr txBox="1"/>
          <p:nvPr/>
        </p:nvSpPr>
        <p:spPr bwMode="auto">
          <a:xfrm rot="0" flipH="0" flipV="0">
            <a:off x="6168656" y="1512093"/>
            <a:ext cx="198615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>
                <a:solidFill>
                  <a:schemeClr val="bg1"/>
                </a:solidFill>
              </a:rPr>
              <a:t>Ивелина</a:t>
            </a:r>
            <a:endParaRPr lang="bg-BG">
              <a:solidFill>
                <a:schemeClr val="bg1"/>
              </a:solidFill>
            </a:endParaRPr>
          </a:p>
          <a:p>
            <a:pPr>
              <a:defRPr/>
            </a:pPr>
            <a:r>
              <a:rPr lang="bg-BG">
                <a:solidFill>
                  <a:schemeClr val="bg1"/>
                </a:solidFill>
              </a:rPr>
              <a:t>Кръстанова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360169845" name=""/>
          <p:cNvSpPr txBox="1"/>
          <p:nvPr/>
        </p:nvSpPr>
        <p:spPr bwMode="auto">
          <a:xfrm rot="551985" flipH="0" flipV="0">
            <a:off x="6161514" y="4857749"/>
            <a:ext cx="3208901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Виктор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  <a:p>
            <a:pPr>
              <a:defRPr/>
            </a:pPr>
            <a:r>
              <a:rPr lang="bg-B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Ванчов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243700412" name=""/>
          <p:cNvSpPr txBox="1"/>
          <p:nvPr/>
        </p:nvSpPr>
        <p:spPr bwMode="auto">
          <a:xfrm rot="20501817" flipH="0" flipV="0">
            <a:off x="2191820" y="4040920"/>
            <a:ext cx="2580390" cy="366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Алексей Стойновски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1167311582" name=""/>
          <p:cNvSpPr txBox="1"/>
          <p:nvPr/>
        </p:nvSpPr>
        <p:spPr bwMode="auto">
          <a:xfrm rot="914660" flipH="0" flipV="0">
            <a:off x="1854" y="4017974"/>
            <a:ext cx="2586150" cy="366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Илиян Сахатчиев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106138144" name=""/>
          <p:cNvSpPr txBox="1"/>
          <p:nvPr/>
        </p:nvSpPr>
        <p:spPr bwMode="auto">
          <a:xfrm rot="0" flipH="0" flipV="0">
            <a:off x="3668343" y="6143624"/>
            <a:ext cx="4365607" cy="366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Александър Симеонов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985368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Технологии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pic>
        <p:nvPicPr>
          <p:cNvPr id="91722926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624137" y="1959000"/>
            <a:ext cx="2038349" cy="2038349"/>
          </a:xfrm>
          <a:prstGeom prst="rect">
            <a:avLst/>
          </a:prstGeom>
        </p:spPr>
      </p:pic>
      <p:pic>
        <p:nvPicPr>
          <p:cNvPr id="1596485865" name=""/>
          <p:cNvPicPr>
            <a:picLocks noChangeAspect="1"/>
          </p:cNvPicPr>
          <p:nvPr/>
        </p:nvPicPr>
        <p:blipFill rotWithShape="1">
          <a:blip r:embed="rId4"/>
          <a:srcRect l="37680" t="21864" r="36802" b="22186"/>
          <a:stretch/>
        </p:blipFill>
        <p:spPr bwMode="auto">
          <a:xfrm flipH="0" flipV="0">
            <a:off x="6299624" y="1595437"/>
            <a:ext cx="1835040" cy="257497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8557838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721176" y="251504"/>
            <a:ext cx="6886608" cy="1381351"/>
          </a:xfrm>
        </p:spPr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cs typeface="Ubuntu Sans"/>
              </a:rPr>
              <a:t>Идеята – от къде и защо?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1336206221" name=""/>
          <p:cNvSpPr txBox="1"/>
          <p:nvPr/>
        </p:nvSpPr>
        <p:spPr bwMode="auto">
          <a:xfrm rot="0" flipH="0" flipV="0">
            <a:off x="559283" y="1690004"/>
            <a:ext cx="7359123" cy="2926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 sz="2800">
                <a:solidFill>
                  <a:schemeClr val="bg1"/>
                </a:solidFill>
              </a:rPr>
              <a:t>Проблемите на хората с деменция:</a:t>
            </a:r>
            <a:endParaRPr sz="2800">
              <a:solidFill>
                <a:schemeClr val="bg1"/>
              </a:solidFill>
            </a:endParaRPr>
          </a:p>
          <a:p>
            <a:pPr marL="283879" indent="-283879">
              <a:buFont typeface="Arial"/>
              <a:buChar char="•"/>
              <a:defRPr/>
            </a:pPr>
            <a:r>
              <a:rPr lang="bg-BG" sz="2800">
                <a:solidFill>
                  <a:schemeClr val="bg1"/>
                </a:solidFill>
              </a:rPr>
              <a:t>забравят</a:t>
            </a:r>
            <a:endParaRPr sz="2800">
              <a:solidFill>
                <a:schemeClr val="bg1"/>
              </a:solidFill>
            </a:endParaRPr>
          </a:p>
          <a:p>
            <a:pPr marL="283879" indent="-283879">
              <a:buFont typeface="Arial"/>
              <a:buChar char="•"/>
              <a:defRPr/>
            </a:pPr>
            <a:r>
              <a:rPr lang="bg-BG" sz="2800">
                <a:solidFill>
                  <a:schemeClr val="bg1"/>
                </a:solidFill>
              </a:rPr>
              <a:t>не искат да си вземат лекарствата</a:t>
            </a:r>
            <a:endParaRPr sz="2800">
              <a:solidFill>
                <a:schemeClr val="bg1"/>
              </a:solidFill>
            </a:endParaRPr>
          </a:p>
          <a:p>
            <a:pPr marL="683929" lvl="1" indent="-283879">
              <a:buFont typeface="Arial"/>
              <a:buChar char="–"/>
              <a:defRPr/>
            </a:pPr>
            <a:r>
              <a:rPr lang="bg-BG" sz="2800">
                <a:solidFill>
                  <a:schemeClr val="bg1"/>
                </a:solidFill>
              </a:rPr>
              <a:t>с музиката се целим подсъзнателно да им въздействаме</a:t>
            </a:r>
            <a:endParaRPr sz="2800">
              <a:solidFill>
                <a:schemeClr val="bg1"/>
              </a:solidFill>
            </a:endParaRPr>
          </a:p>
          <a:p>
            <a:pPr marL="283879" lvl="0" indent="-283879">
              <a:buFont typeface="Arial"/>
              <a:buChar char="•"/>
              <a:defRPr/>
            </a:pPr>
            <a:r>
              <a:rPr lang="bg-BG" sz="2800">
                <a:solidFill>
                  <a:schemeClr val="bg1"/>
                </a:solidFill>
              </a:rPr>
              <a:t>вземат грешните лекарства</a:t>
            </a:r>
            <a:endParaRPr lang="bg-BG">
              <a:solidFill>
                <a:schemeClr val="bg1"/>
              </a:solidFill>
            </a:endParaRPr>
          </a:p>
          <a:p>
            <a:pPr lvl="0">
              <a:defRPr/>
            </a:pPr>
            <a:endParaRPr lang="bg-BG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263660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Актуализация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57383150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8" y="1825624"/>
            <a:ext cx="9392625" cy="4351338"/>
          </a:xfrm>
        </p:spPr>
        <p:txBody>
          <a:bodyPr/>
          <a:lstStyle/>
          <a:p>
            <a:pPr>
              <a:defRPr/>
            </a:pPr>
            <a:r>
              <a:rPr lang="bg-B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Успяхме да направим прототип на кутията, които има </a:t>
            </a:r>
            <a:r>
              <a:rPr lang="bg-B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нагласящи се периоди на взимане</a:t>
            </a:r>
            <a:r>
              <a:rPr lang="bg-BG">
                <a:solidFill>
                  <a:schemeClr val="bg1"/>
                </a:solidFill>
                <a:latin typeface="Ubuntu Sans"/>
                <a:cs typeface="Ubuntu Sans"/>
              </a:rPr>
              <a:t> и показва кое лекарство трябва да се вземе.</a:t>
            </a:r>
            <a:endParaRPr lang="bg-BG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>
              <a:defRPr/>
            </a:pPr>
            <a:r>
              <a:rPr lang="bg-BG" sz="2800" b="0" i="0" u="none" strike="noStrike" cap="none" spc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Направихме</a:t>
            </a:r>
            <a:r>
              <a:rPr lang="bg-BG">
                <a:solidFill>
                  <a:schemeClr val="bg1"/>
                </a:solidFill>
                <a:latin typeface="Ubuntu Sans"/>
                <a:cs typeface="Ubuntu Sans"/>
              </a:rPr>
              <a:t> и сайт, който да се свърже с кутията и да нагласи</a:t>
            </a:r>
            <a:r>
              <a:rPr lang="bg-BG">
                <a:solidFill>
                  <a:schemeClr val="bg1"/>
                </a:solidFill>
                <a:latin typeface="Ubuntu Sans"/>
                <a:cs typeface="Ubuntu Sans"/>
              </a:rPr>
              <a:t> всички специфики.</a:t>
            </a:r>
            <a:endParaRPr lang="bg-BG">
              <a:solidFill>
                <a:schemeClr val="bg1"/>
              </a:solidFill>
              <a:latin typeface="Ubuntu Sans"/>
              <a:cs typeface="Ubuntu Sans"/>
            </a:endParaRPr>
          </a:p>
          <a:p>
            <a:pPr marL="0" indent="0">
              <a:buFont typeface="Arial"/>
              <a:buNone/>
              <a:defRPr/>
            </a:pPr>
            <a:endParaRPr lang="bg-BG">
              <a:solidFill>
                <a:schemeClr val="bg1"/>
              </a:solidFill>
              <a:latin typeface="Ubuntu Sans"/>
              <a:cs typeface="Ubuntu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914868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Medicine Man </a:t>
            </a: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в бъдещето: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1227581339" name=""/>
          <p:cNvSpPr txBox="1"/>
          <p:nvPr/>
        </p:nvSpPr>
        <p:spPr bwMode="auto">
          <a:xfrm rot="0" flipH="0" flipV="0">
            <a:off x="905849" y="1895474"/>
            <a:ext cx="1043939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880552459" name=""/>
          <p:cNvSpPr txBox="1"/>
          <p:nvPr/>
        </p:nvSpPr>
        <p:spPr bwMode="auto">
          <a:xfrm rot="0" flipH="0" flipV="0">
            <a:off x="905848" y="1790698"/>
            <a:ext cx="7430758" cy="36274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9" indent="-283879">
              <a:buFont typeface="Arial"/>
              <a:buChar char="–"/>
              <a:defRPr/>
            </a:pPr>
            <a:r>
              <a:rPr lang="bg-BG" sz="2800">
                <a:solidFill>
                  <a:schemeClr val="bg1"/>
                </a:solidFill>
              </a:rPr>
              <a:t>да избереш модел на кутията (и колко раздела има в нея)</a:t>
            </a:r>
            <a:endParaRPr sz="2800">
              <a:solidFill>
                <a:schemeClr val="bg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 sz="2800">
                <a:solidFill>
                  <a:schemeClr val="bg1"/>
                </a:solidFill>
              </a:rPr>
              <a:t>при 5 минути без изключване на алармата се звъни на извънреден контакт</a:t>
            </a:r>
            <a:endParaRPr sz="2800">
              <a:solidFill>
                <a:schemeClr val="bg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 sz="2800">
                <a:solidFill>
                  <a:schemeClr val="bg1"/>
                </a:solidFill>
              </a:rPr>
              <a:t>да може да се избира всякаква песен за алармата </a:t>
            </a:r>
            <a:endParaRPr lang="bg-BG">
              <a:solidFill>
                <a:schemeClr val="bg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endParaRPr>
              <a:solidFill>
                <a:schemeClr val="bg1"/>
              </a:solidFill>
            </a:endParaRPr>
          </a:p>
          <a:p>
            <a:pPr>
              <a:defRPr/>
            </a:pP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810732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Принципна електрическа схема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15747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Блокова схема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8332139" name=""/>
          <p:cNvSpPr txBox="1"/>
          <p:nvPr/>
        </p:nvSpPr>
        <p:spPr bwMode="auto">
          <a:xfrm rot="0" flipH="0" flipV="0">
            <a:off x="2239349" y="2074905"/>
            <a:ext cx="7420694" cy="11890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 sz="7200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Демонстрация</a:t>
            </a:r>
            <a:endParaRPr sz="7200"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391587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Анализ на живота на батерията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71370541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bg-B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Капацитет: </a:t>
            </a:r>
            <a:r>
              <a:rPr lang="en-US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600 mAh</a:t>
            </a:r>
            <a:endParaRPr lang="en-US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>
              <a:defRPr/>
            </a:pPr>
            <a:r>
              <a:rPr lang="bg-B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Изчисления – спрямо целодневна работа на проекта</a:t>
            </a:r>
            <a:endParaRPr lang="bg-BG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>
              <a:defRPr/>
            </a:pPr>
            <a:r>
              <a:rPr lang="bg-B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Консумация на ток:</a:t>
            </a:r>
            <a:endParaRPr lang="bg-BG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457200" lvl="1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Arduino Uno R4: 140 mA </a:t>
            </a:r>
            <a:endParaRPr sz="2800" b="0" i="0" u="none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457200" lvl="1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2xLEDs и зумери(Средно работят по 1 час на ден): 80 mA</a:t>
            </a:r>
            <a:endParaRPr sz="2800" b="0" i="0" u="none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457200" lvl="1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IR Sensor: 25 mA </a:t>
            </a:r>
            <a:endParaRPr sz="2800" b="0" i="0" u="none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457200" lvl="1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I        =140+ (80 * 1/24)+25=168.33 mA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1640567046" name=""/>
          <p:cNvSpPr txBox="1"/>
          <p:nvPr/>
        </p:nvSpPr>
        <p:spPr bwMode="auto">
          <a:xfrm rot="0" flipH="0" flipV="0">
            <a:off x="1418062" y="4777379"/>
            <a:ext cx="1988703" cy="366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800" b="0" i="0" u="none" strike="noStrike" cap="none" spc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total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887545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Процес на разработка: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20491183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419099" y="1825624"/>
            <a:ext cx="2734649" cy="4351338"/>
          </a:xfrm>
        </p:spPr>
        <p:txBody>
          <a:bodyPr/>
          <a:lstStyle/>
          <a:p>
            <a:pPr marL="0" indent="0" algn="ctr">
              <a:buFont typeface="Arial"/>
              <a:buNone/>
              <a:defRPr/>
            </a:pPr>
            <a:r>
              <a:rPr lang="bg-BG" sz="2600" u="sn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Сряда</a:t>
            </a:r>
            <a:endParaRPr sz="2600">
              <a:solidFill>
                <a:schemeClr val="bg1"/>
              </a:solidFill>
              <a:latin typeface="Ubuntu Sans"/>
              <a:cs typeface="Ubuntu Sans"/>
            </a:endParaRPr>
          </a:p>
          <a:p>
            <a:pPr marL="0" indent="0" algn="ctr">
              <a:buFont typeface="Arial"/>
              <a:buNone/>
              <a:defRPr/>
            </a:pPr>
            <a:r>
              <a:rPr lang="en-US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Brainstorming </a:t>
            </a:r>
            <a:r>
              <a:rPr lang="bg-BG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за идея</a:t>
            </a:r>
            <a:endParaRPr sz="260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0" indent="0" algn="ctr">
              <a:buFont typeface="Arial"/>
              <a:buNone/>
              <a:defRPr/>
            </a:pPr>
            <a:r>
              <a:rPr lang="bg-BG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3</a:t>
            </a:r>
            <a:r>
              <a:rPr lang="en-US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D </a:t>
            </a:r>
            <a:r>
              <a:rPr lang="bg-BG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модел и принтиране </a:t>
            </a:r>
            <a:endParaRPr sz="260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0" indent="0" algn="ctr">
              <a:buFont typeface="Arial"/>
              <a:buNone/>
              <a:defRPr/>
            </a:pPr>
            <a:r>
              <a:rPr lang="bg-BG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Създаване на няколко скици на сайта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84200880" name="Content Placeholder 2"/>
          <p:cNvSpPr>
            <a:spLocks noGrp="1"/>
          </p:cNvSpPr>
          <p:nvPr/>
        </p:nvSpPr>
        <p:spPr bwMode="auto">
          <a:xfrm flipH="0" flipV="0">
            <a:off x="3361350" y="1825624"/>
            <a:ext cx="2734648" cy="4351338"/>
          </a:xfr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  <a:defRPr/>
            </a:pPr>
            <a:r>
              <a:rPr lang="bg-BG" sz="2600" u="sn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Четвъртък</a:t>
            </a:r>
            <a:endParaRPr sz="2600">
              <a:solidFill>
                <a:schemeClr val="bg1"/>
              </a:solidFill>
              <a:latin typeface="Ubuntu Sans"/>
              <a:cs typeface="Ubuntu Sans"/>
            </a:endParaRPr>
          </a:p>
          <a:p>
            <a:pPr marL="0" indent="0" algn="ctr">
              <a:buFont typeface="Arial"/>
              <a:buNone/>
              <a:defRPr/>
            </a:pPr>
            <a:r>
              <a:rPr lang="bg-BG">
                <a:solidFill>
                  <a:schemeClr val="bg1"/>
                </a:solidFill>
                <a:latin typeface="Ubuntu Sans"/>
                <a:cs typeface="Ubuntu Sans"/>
              </a:rPr>
              <a:t>Създаване на сайта и правене на основния код</a:t>
            </a:r>
            <a:endParaRPr lang="bg-BG">
              <a:solidFill>
                <a:schemeClr val="bg1"/>
              </a:solidFill>
              <a:latin typeface="Ubuntu Sans"/>
              <a:cs typeface="Ubuntu Sans"/>
            </a:endParaRPr>
          </a:p>
          <a:p>
            <a:pPr marL="0" indent="0" algn="ctr">
              <a:buFont typeface="Arial"/>
              <a:buNone/>
              <a:defRPr/>
            </a:pPr>
            <a:r>
              <a:rPr lang="bg-BG">
                <a:solidFill>
                  <a:schemeClr val="bg1"/>
                </a:solidFill>
                <a:latin typeface="Ubuntu Sans"/>
                <a:cs typeface="Ubuntu Sans"/>
              </a:rPr>
              <a:t>Рисуване на дизайнове и лого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111172462" name="Content Placeholder 2"/>
          <p:cNvSpPr>
            <a:spLocks noGrp="1"/>
          </p:cNvSpPr>
          <p:nvPr/>
        </p:nvSpPr>
        <p:spPr bwMode="auto">
          <a:xfrm flipH="0" flipV="0">
            <a:off x="6534149" y="1825624"/>
            <a:ext cx="2734648" cy="4351338"/>
          </a:xfr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  <a:defRPr/>
            </a:pPr>
            <a:r>
              <a:rPr lang="bg-BG" u="sng">
                <a:solidFill>
                  <a:schemeClr val="bg1"/>
                </a:solidFill>
                <a:latin typeface="Ubuntu Sans"/>
                <a:cs typeface="Ubuntu Sans"/>
              </a:rPr>
              <a:t>Петък</a:t>
            </a:r>
            <a:endParaRPr lang="bg-BG">
              <a:solidFill>
                <a:schemeClr val="bg1"/>
              </a:solidFill>
              <a:latin typeface="Ubuntu Sans"/>
              <a:cs typeface="Ubuntu Sans"/>
            </a:endParaRPr>
          </a:p>
          <a:p>
            <a:pPr marL="0" indent="0" algn="ctr">
              <a:buFont typeface="Arial"/>
              <a:buNone/>
              <a:defRPr/>
            </a:pPr>
            <a:r>
              <a:rPr lang="bg-BG">
                <a:solidFill>
                  <a:schemeClr val="bg1"/>
                </a:solidFill>
                <a:latin typeface="Ubuntu Sans"/>
                <a:cs typeface="Ubuntu Sans"/>
              </a:rPr>
              <a:t>Довършване на проекта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258282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Нашето преживяване</a:t>
            </a:r>
            <a:endParaRPr/>
          </a:p>
        </p:txBody>
      </p:sp>
      <p:sp>
        <p:nvSpPr>
          <p:cNvPr id="722693665" name=""/>
          <p:cNvSpPr txBox="1"/>
          <p:nvPr/>
        </p:nvSpPr>
        <p:spPr bwMode="auto">
          <a:xfrm rot="0" flipH="0" flipV="0">
            <a:off x="477222" y="1614485"/>
            <a:ext cx="9157231" cy="3353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9" indent="-283879">
              <a:buFont typeface="Arial"/>
              <a:buChar char="–"/>
              <a:defRPr/>
            </a:pPr>
            <a:r>
              <a:rPr lang="bg-BG" sz="28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За нас беше едно много </a:t>
            </a:r>
            <a:r>
              <a:rPr lang="en-US" sz="2800" b="0" i="1" u="sn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BIZZARE</a:t>
            </a:r>
            <a:r>
              <a:rPr lang="en-US" sz="28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 </a:t>
            </a:r>
            <a:r>
              <a:rPr lang="bg-BG" sz="28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преживяване</a:t>
            </a:r>
            <a:endParaRPr sz="2800" b="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 sz="28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Истински </a:t>
            </a:r>
            <a:r>
              <a:rPr lang="en-US" sz="2800" b="0" i="1" u="sn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ADVENTURE</a:t>
            </a:r>
            <a:r>
              <a:rPr lang="en-US" sz="28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 </a:t>
            </a:r>
            <a:r>
              <a:rPr lang="bg-BG" sz="28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в сфери, в които никога не сме работили</a:t>
            </a:r>
            <a:endParaRPr sz="2800" b="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 sz="28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Половината се разболяхме</a:t>
            </a:r>
            <a:endParaRPr sz="2800" b="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 sz="28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Менторът ни идваше с части само след 14 часа </a:t>
            </a:r>
            <a:endParaRPr sz="2800" b="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 sz="28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Много се забавлявахме и смятаме да участваме всяка година до края на обучението ни в ТУЕС</a:t>
            </a:r>
            <a:endParaRPr lang="bg-BG" b="1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8" indent="-283878">
              <a:buFont typeface="Arial"/>
              <a:buChar char="–"/>
              <a:defRPr/>
            </a:pPr>
            <a:endParaRPr lang="bg-BG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347134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Какво научихме</a:t>
            </a:r>
            <a:endParaRPr b="1">
              <a:solidFill>
                <a:schemeClr val="bg1"/>
              </a:solidFill>
            </a:endParaRPr>
          </a:p>
        </p:txBody>
      </p:sp>
      <p:sp>
        <p:nvSpPr>
          <p:cNvPr id="1244464403" name=""/>
          <p:cNvSpPr txBox="1"/>
          <p:nvPr/>
        </p:nvSpPr>
        <p:spPr bwMode="auto">
          <a:xfrm rot="0" flipH="0" flipV="0">
            <a:off x="838199" y="1630319"/>
            <a:ext cx="9513042" cy="1798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9" indent="-283879">
              <a:buFont typeface="Arial"/>
              <a:buChar char="–"/>
              <a:defRPr/>
            </a:pPr>
            <a:r>
              <a:rPr lang="bg-BG" sz="28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работа с </a:t>
            </a:r>
            <a:r>
              <a:rPr lang="en-US" sz="28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Arduino</a:t>
            </a:r>
            <a:endParaRPr sz="280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en-US" sz="28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HTML и</a:t>
            </a:r>
            <a:r>
              <a:rPr lang="bg-BG" sz="28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 създаване на сайт</a:t>
            </a:r>
            <a:endParaRPr sz="280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 sz="28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как да използваме изкуствен интелект ефективно</a:t>
            </a:r>
            <a:endParaRPr sz="280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 sz="28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работа в екип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1146105" name=""/>
          <p:cNvSpPr txBox="1"/>
          <p:nvPr/>
        </p:nvSpPr>
        <p:spPr bwMode="auto">
          <a:xfrm rot="0" flipH="0" flipV="0">
            <a:off x="810599" y="1238249"/>
            <a:ext cx="9841679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 sz="4800">
                <a:solidFill>
                  <a:schemeClr val="bg1"/>
                </a:solidFill>
              </a:rPr>
              <a:t>Благодарим Ви за вниманието!</a:t>
            </a:r>
            <a:endParaRPr sz="4800">
              <a:solidFill>
                <a:schemeClr val="bg1"/>
              </a:solidFill>
            </a:endParaRPr>
          </a:p>
        </p:txBody>
      </p:sp>
      <p:pic>
        <p:nvPicPr>
          <p:cNvPr id="185521384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990156" y="2304293"/>
            <a:ext cx="3482564" cy="283385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ONLYOFFICE/9.3.1.8</Application>
  <PresentationFormat>On-screen Show (4:3)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10</cp:revision>
  <dcterms:modified xsi:type="dcterms:W3CDTF">2026-03-27T15:31:24Z</dcterms:modified>
</cp:coreProperties>
</file>